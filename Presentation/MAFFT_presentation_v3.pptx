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77" r:id="rId6"/>
    <p:sldId id="276" r:id="rId7"/>
    <p:sldId id="27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 autoAdjust="0"/>
    <p:restoredTop sz="71761"/>
  </p:normalViewPr>
  <p:slideViewPr>
    <p:cSldViewPr snapToGrid="0">
      <p:cViewPr varScale="1">
        <p:scale>
          <a:sx n="86" d="100"/>
          <a:sy n="86" d="100"/>
        </p:scale>
        <p:origin x="224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B55D9-8D80-7B48-A3A2-19F8812BC4D0}" type="datetimeFigureOut">
              <a:rPr lang="sv-SE" smtClean="0"/>
              <a:t>2025-05-25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4EF28-421C-3E4B-81BA-B2AF2BEE00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694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4EF28-421C-3E4B-81BA-B2AF2BEE00A7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5162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4B49A-5058-C1EB-ACE1-4D46E85D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B782744F-94D8-680D-3B52-B05C77196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76110BFB-189A-67EC-094C-E15FA85DB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50F979A-3021-B4BE-DB76-F6FD17410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4EF28-421C-3E4B-81BA-B2AF2BEE00A7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3183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8D22-E4C7-AE14-080D-BD5E200C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80F68D30-4E24-BBB8-3171-E7E67D0A6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A1549074-A835-92FE-083C-BACF20C59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C200D9C-D369-E8F7-72BA-774E38B13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4EF28-421C-3E4B-81BA-B2AF2BEE00A7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5563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6C59-1BB1-7CCF-193B-FE415F9F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A650E768-6D13-4380-6209-7DD6CC27A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91D88AD3-F7E5-2D3F-F266-1DECB3CA5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8626B38-7479-D3EC-BC0F-B0BBD402C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4EF28-421C-3E4B-81BA-B2AF2BEE00A7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4337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9F114-6CC2-B1F6-98C1-089F0F5B5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MAFFT - Alignment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1674D6-EB07-C02C-4199-21B01F2B0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Selome</a:t>
            </a:r>
            <a:r>
              <a:rPr lang="de-DE" dirty="0"/>
              <a:t> </a:t>
            </a:r>
            <a:r>
              <a:rPr lang="de-DE" dirty="0" err="1"/>
              <a:t>Tamirat</a:t>
            </a:r>
            <a:r>
              <a:rPr lang="de-DE" dirty="0"/>
              <a:t> Desalegn</a:t>
            </a:r>
          </a:p>
          <a:p>
            <a:r>
              <a:rPr lang="de-DE" dirty="0"/>
              <a:t>Theresa Leitner</a:t>
            </a:r>
          </a:p>
          <a:p>
            <a:r>
              <a:rPr lang="de-DE" dirty="0"/>
              <a:t>Elin Nielsen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5598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AD4520-E711-07A5-457E-712F8399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Multiple </a:t>
            </a:r>
            <a:r>
              <a:rPr lang="de-DE" dirty="0" err="1"/>
              <a:t>Sequence</a:t>
            </a:r>
            <a:r>
              <a:rPr lang="de-DE" dirty="0"/>
              <a:t> Alignment - MSA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90C34D-1024-B45A-C49A-2EBCE4392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Alignment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biological</a:t>
            </a:r>
            <a:r>
              <a:rPr lang="de-DE" dirty="0"/>
              <a:t> </a:t>
            </a:r>
            <a:r>
              <a:rPr lang="de-DE" dirty="0" err="1"/>
              <a:t>sequences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length</a:t>
            </a:r>
            <a:endParaRPr lang="de-DE" dirty="0"/>
          </a:p>
          <a:p>
            <a:r>
              <a:rPr lang="de-DE" dirty="0"/>
              <a:t>Protein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nucleic</a:t>
            </a:r>
            <a:r>
              <a:rPr lang="de-DE" dirty="0"/>
              <a:t> </a:t>
            </a:r>
            <a:r>
              <a:rPr lang="de-DE" dirty="0" err="1"/>
              <a:t>acid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DE" dirty="0"/>
          </a:p>
          <a:p>
            <a:r>
              <a:rPr lang="de-DE" dirty="0"/>
              <a:t>Share a </a:t>
            </a:r>
            <a:r>
              <a:rPr lang="de-DE" dirty="0" err="1"/>
              <a:t>lineage</a:t>
            </a:r>
            <a:r>
              <a:rPr lang="de-DE" dirty="0"/>
              <a:t> and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descendent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ancestor</a:t>
            </a:r>
            <a:endParaRPr lang="de-DE" dirty="0"/>
          </a:p>
          <a:p>
            <a:r>
              <a:rPr lang="de-DE" dirty="0" err="1"/>
              <a:t>Residues</a:t>
            </a:r>
            <a:r>
              <a:rPr lang="de-DE" dirty="0"/>
              <a:t> in same </a:t>
            </a:r>
            <a:r>
              <a:rPr lang="de-DE" dirty="0" err="1"/>
              <a:t>row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sequence</a:t>
            </a:r>
            <a:endParaRPr lang="de-DE" dirty="0"/>
          </a:p>
          <a:p>
            <a:r>
              <a:rPr lang="de-DE" dirty="0" err="1"/>
              <a:t>Residues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column</a:t>
            </a:r>
            <a:r>
              <a:rPr lang="de-DE" dirty="0"/>
              <a:t> </a:t>
            </a:r>
            <a:r>
              <a:rPr lang="de-DE" dirty="0" err="1"/>
              <a:t>share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similarities</a:t>
            </a:r>
            <a:endParaRPr lang="de-DE" dirty="0"/>
          </a:p>
          <a:p>
            <a:r>
              <a:rPr lang="de-DE" dirty="0"/>
              <a:t>Different </a:t>
            </a:r>
            <a:r>
              <a:rPr lang="de-DE" dirty="0" err="1"/>
              <a:t>column</a:t>
            </a:r>
            <a:r>
              <a:rPr lang="de-DE" dirty="0"/>
              <a:t> </a:t>
            </a:r>
            <a:r>
              <a:rPr lang="de-DE" dirty="0" err="1"/>
              <a:t>contains</a:t>
            </a:r>
            <a:r>
              <a:rPr lang="de-DE" dirty="0"/>
              <a:t> different </a:t>
            </a:r>
            <a:r>
              <a:rPr lang="de-DE" dirty="0" err="1"/>
              <a:t>pattern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residue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1448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75870-2288-55A9-B7E4-C21DAB49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MSA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EDB97C-69A2-2280-90DC-4D5C34486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Identifying</a:t>
            </a:r>
            <a:r>
              <a:rPr lang="de-DE" dirty="0"/>
              <a:t> </a:t>
            </a:r>
            <a:r>
              <a:rPr lang="de-DE" dirty="0" err="1"/>
              <a:t>similarities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DE" dirty="0"/>
          </a:p>
          <a:p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conserved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 and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homologies</a:t>
            </a:r>
            <a:endParaRPr lang="de-DE" dirty="0"/>
          </a:p>
          <a:p>
            <a:r>
              <a:rPr lang="de-DE" dirty="0"/>
              <a:t>Assists </a:t>
            </a:r>
            <a:r>
              <a:rPr lang="de-DE" dirty="0" err="1"/>
              <a:t>improved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secondary</a:t>
            </a:r>
            <a:r>
              <a:rPr lang="de-DE" dirty="0"/>
              <a:t> and </a:t>
            </a:r>
            <a:r>
              <a:rPr lang="de-DE" dirty="0" err="1"/>
              <a:t>tertiary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proteins</a:t>
            </a:r>
            <a:endParaRPr lang="de-DE" dirty="0"/>
          </a:p>
          <a:p>
            <a:r>
              <a:rPr lang="de-DE" dirty="0"/>
              <a:t>Making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profiles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sequences</a:t>
            </a:r>
            <a:r>
              <a:rPr lang="de-DE" dirty="0"/>
              <a:t> </a:t>
            </a:r>
            <a:r>
              <a:rPr lang="de-DE" dirty="0" err="1"/>
              <a:t>falling</a:t>
            </a:r>
            <a:r>
              <a:rPr lang="de-DE" dirty="0"/>
              <a:t> in a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family</a:t>
            </a:r>
            <a:endParaRPr lang="de-DE" dirty="0"/>
          </a:p>
          <a:p>
            <a:r>
              <a:rPr lang="de-DE" dirty="0" err="1"/>
              <a:t>Inferring</a:t>
            </a:r>
            <a:r>
              <a:rPr lang="de-DE" dirty="0"/>
              <a:t> </a:t>
            </a:r>
            <a:r>
              <a:rPr lang="de-DE" dirty="0" err="1"/>
              <a:t>evolutionary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linkages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1960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D868099-6145-4BC0-A5EA-74BEF177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EBEA17-470A-5054-5710-1AC0FD7F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424" y="1110882"/>
            <a:ext cx="3053039" cy="10608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/>
              <a:t>Tools used for MSA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293D3ACF-F009-B471-46C3-4CB258A098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4275" y="1169126"/>
            <a:ext cx="6900380" cy="4519748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795714-7C1B-486D-2D52-CD5E09571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71423" y="2286000"/>
            <a:ext cx="3053039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Clustal ω</a:t>
            </a:r>
          </a:p>
          <a:p>
            <a:r>
              <a:rPr lang="en-US" sz="1600"/>
              <a:t>EMBOSS cons</a:t>
            </a:r>
          </a:p>
          <a:p>
            <a:r>
              <a:rPr lang="en-US" sz="1600"/>
              <a:t>Kalign</a:t>
            </a:r>
          </a:p>
          <a:p>
            <a:r>
              <a:rPr lang="en-US" sz="1600"/>
              <a:t>MAFFT</a:t>
            </a:r>
          </a:p>
          <a:p>
            <a:r>
              <a:rPr lang="en-US" sz="1600"/>
              <a:t>MUSCLE</a:t>
            </a:r>
          </a:p>
          <a:p>
            <a:r>
              <a:rPr lang="en-US" sz="1600"/>
              <a:t>Mview</a:t>
            </a:r>
          </a:p>
          <a:p>
            <a:r>
              <a:rPr lang="en-US" sz="1600"/>
              <a:t>T-Coffee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CC1026F7-DECB-49B4-A565-518BBA44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6899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0F21-C016-F2BE-8943-22A5F5C7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A4B01-EFF4-9D82-F1CB-1AF6D25A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MAFFT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413261-9FB8-E75A-7ADA-12FA675D4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493895" cy="358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High </a:t>
            </a:r>
            <a:r>
              <a:rPr lang="de-DE" sz="1800" dirty="0" err="1"/>
              <a:t>speed</a:t>
            </a:r>
            <a:r>
              <a:rPr lang="de-DE" sz="1800" dirty="0"/>
              <a:t> MSA </a:t>
            </a:r>
            <a:r>
              <a:rPr lang="de-DE" sz="1800" dirty="0" err="1"/>
              <a:t>program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 err="1"/>
              <a:t>Created</a:t>
            </a:r>
            <a:r>
              <a:rPr lang="de-DE" sz="1800" dirty="0"/>
              <a:t> </a:t>
            </a:r>
            <a:r>
              <a:rPr lang="de-DE" sz="1800" dirty="0" err="1"/>
              <a:t>by</a:t>
            </a:r>
            <a:r>
              <a:rPr lang="de-DE" sz="1800" dirty="0"/>
              <a:t> </a:t>
            </a:r>
            <a:r>
              <a:rPr lang="de-DE" sz="1800" dirty="0" err="1"/>
              <a:t>Kazutaka</a:t>
            </a:r>
            <a:r>
              <a:rPr lang="de-DE" sz="1800" dirty="0"/>
              <a:t> </a:t>
            </a:r>
            <a:r>
              <a:rPr lang="de-DE" sz="1800" dirty="0" err="1"/>
              <a:t>Katoh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 err="1"/>
              <a:t>Released</a:t>
            </a:r>
            <a:r>
              <a:rPr lang="de-DE" sz="1800" dirty="0"/>
              <a:t> in 2002 </a:t>
            </a:r>
            <a:endParaRPr lang="de-DE" sz="1800" dirty="0">
              <a:sym typeface="Wingdings" pitchFamily="2" charset="2"/>
            </a:endParaRPr>
          </a:p>
          <a:p>
            <a:pPr lvl="1">
              <a:lnSpc>
                <a:spcPct val="150000"/>
              </a:lnSpc>
            </a:pPr>
            <a:r>
              <a:rPr lang="de-DE" sz="1800" dirty="0" err="1">
                <a:sym typeface="Wingdings" pitchFamily="2" charset="2"/>
              </a:rPr>
              <a:t>Now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version</a:t>
            </a:r>
            <a:r>
              <a:rPr lang="de-DE" sz="1800" dirty="0">
                <a:sym typeface="Wingdings" pitchFamily="2" charset="2"/>
              </a:rPr>
              <a:t> 7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Nucleotide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 err="1"/>
              <a:t>amino</a:t>
            </a:r>
            <a:r>
              <a:rPr lang="de-DE" sz="1800" dirty="0"/>
              <a:t> </a:t>
            </a:r>
            <a:r>
              <a:rPr lang="de-DE" sz="1800" dirty="0" err="1"/>
              <a:t>acid</a:t>
            </a:r>
            <a:r>
              <a:rPr lang="de-DE" sz="1800" dirty="0"/>
              <a:t> </a:t>
            </a:r>
            <a:r>
              <a:rPr lang="de-DE" sz="1800" dirty="0" err="1"/>
              <a:t>sequences</a:t>
            </a:r>
            <a:endParaRPr lang="de-DE" sz="1800" dirty="0"/>
          </a:p>
          <a:p>
            <a:pPr lvl="1">
              <a:lnSpc>
                <a:spcPct val="150000"/>
              </a:lnSpc>
            </a:pPr>
            <a:r>
              <a:rPr lang="de-DE" sz="1800" dirty="0"/>
              <a:t>Input FASTA </a:t>
            </a:r>
            <a:r>
              <a:rPr lang="de-DE" sz="1800" dirty="0" err="1"/>
              <a:t>format</a:t>
            </a:r>
            <a:endParaRPr lang="de-DE" sz="1800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977E8076-653B-D3BC-7B6D-CFC0E760F7D9}"/>
              </a:ext>
            </a:extLst>
          </p:cNvPr>
          <p:cNvSpPr txBox="1"/>
          <p:nvPr/>
        </p:nvSpPr>
        <p:spPr>
          <a:xfrm>
            <a:off x="1371600" y="1190223"/>
            <a:ext cx="911210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500" dirty="0"/>
              <a:t>Multiple Alignment </a:t>
            </a:r>
            <a:r>
              <a:rPr lang="de-DE" sz="2500" dirty="0" err="1"/>
              <a:t>using</a:t>
            </a:r>
            <a:r>
              <a:rPr lang="de-DE" sz="2500" dirty="0"/>
              <a:t> Fast Fourier Transform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AAD004A-5443-F558-310F-BDF06F4293AB}"/>
              </a:ext>
            </a:extLst>
          </p:cNvPr>
          <p:cNvSpPr txBox="1"/>
          <p:nvPr/>
        </p:nvSpPr>
        <p:spPr>
          <a:xfrm>
            <a:off x="7719933" y="2171700"/>
            <a:ext cx="427219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de-DE" b="1" dirty="0"/>
              <a:t>Download </a:t>
            </a:r>
            <a:r>
              <a:rPr lang="de-DE" b="1" dirty="0" err="1"/>
              <a:t>version</a:t>
            </a:r>
            <a:endParaRPr lang="de-DE" b="1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de-DE" dirty="0"/>
              <a:t>Command-line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de-DE" dirty="0"/>
              <a:t>More </a:t>
            </a:r>
            <a:r>
              <a:rPr lang="de-DE" dirty="0" err="1"/>
              <a:t>customization</a:t>
            </a:r>
            <a:endParaRPr lang="de-DE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de-DE" dirty="0"/>
              <a:t>Linux, Mac OS X, Windows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de-DE" b="1" dirty="0"/>
              <a:t>Online </a:t>
            </a:r>
            <a:r>
              <a:rPr lang="de-DE" b="1" dirty="0" err="1"/>
              <a:t>version</a:t>
            </a:r>
            <a:endParaRPr lang="de-DE" b="1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de-DE" dirty="0" err="1"/>
              <a:t>Graphical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interface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de-DE" dirty="0" err="1"/>
              <a:t>Smaller</a:t>
            </a:r>
            <a:r>
              <a:rPr lang="de-DE" dirty="0"/>
              <a:t> </a:t>
            </a:r>
            <a:r>
              <a:rPr lang="de-DE" dirty="0" err="1"/>
              <a:t>datasets</a:t>
            </a:r>
            <a:endParaRPr lang="de-DE" dirty="0"/>
          </a:p>
          <a:p>
            <a:pPr marL="742950" lvl="1" indent="-285750">
              <a:buFont typeface="Wingdings" pitchFamily="2" charset="2"/>
              <a:buChar char="§"/>
            </a:pPr>
            <a:endParaRPr lang="de-DE" dirty="0"/>
          </a:p>
          <a:p>
            <a:pPr marL="742950" lvl="1" indent="-285750">
              <a:buFont typeface="Wingdings" pitchFamily="2" charset="2"/>
              <a:buChar char="§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354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6E1D-BECE-CB9D-EB55-83BA14DB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6151C-90A9-BFAC-C76B-005CCDD1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3912"/>
          </a:xfrm>
        </p:spPr>
        <p:txBody>
          <a:bodyPr/>
          <a:lstStyle/>
          <a:p>
            <a:r>
              <a:rPr lang="de-DE" dirty="0"/>
              <a:t>MAFFT Alignment </a:t>
            </a:r>
            <a:r>
              <a:rPr lang="de-DE" dirty="0" err="1"/>
              <a:t>Strategies</a:t>
            </a:r>
            <a:r>
              <a:rPr lang="de-DE" dirty="0"/>
              <a:t> 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A12EE3-F34D-A7E2-BC04-FAF2557E5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192" y="2795090"/>
            <a:ext cx="2452255" cy="823912"/>
          </a:xfrm>
        </p:spPr>
        <p:txBody>
          <a:bodyPr/>
          <a:lstStyle/>
          <a:p>
            <a:r>
              <a:rPr lang="de-DE" sz="2500" i="1" dirty="0"/>
              <a:t>Progressive </a:t>
            </a:r>
            <a:r>
              <a:rPr lang="de-DE" sz="2500" i="1" dirty="0" err="1"/>
              <a:t>methods</a:t>
            </a:r>
            <a:endParaRPr lang="de-AT" sz="2500" i="1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C76369-8FD2-802F-B41C-109F95EB7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329962" y="3265013"/>
            <a:ext cx="1862038" cy="730729"/>
          </a:xfrm>
        </p:spPr>
        <p:txBody>
          <a:bodyPr/>
          <a:lstStyle/>
          <a:p>
            <a:r>
              <a:rPr lang="de-DE" sz="2500" i="1" dirty="0"/>
              <a:t>Iterative </a:t>
            </a:r>
            <a:r>
              <a:rPr lang="de-DE" sz="2500" i="1" dirty="0" err="1"/>
              <a:t>methods</a:t>
            </a:r>
            <a:endParaRPr lang="de-AT" sz="2500" i="1" dirty="0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D1EBB92B-F07C-32CC-6104-A166D31BBC2A}"/>
              </a:ext>
            </a:extLst>
          </p:cNvPr>
          <p:cNvGrpSpPr/>
          <p:nvPr/>
        </p:nvGrpSpPr>
        <p:grpSpPr>
          <a:xfrm>
            <a:off x="3027803" y="2237231"/>
            <a:ext cx="8917939" cy="3934969"/>
            <a:chOff x="2051058" y="1825275"/>
            <a:chExt cx="8917939" cy="3934969"/>
          </a:xfrm>
        </p:grpSpPr>
        <p:sp>
          <p:nvSpPr>
            <p:cNvPr id="18" name="Inhaltsplatzhalter 3">
              <a:extLst>
                <a:ext uri="{FF2B5EF4-FFF2-40B4-BE49-F238E27FC236}">
                  <a16:creationId xmlns:a16="http://schemas.microsoft.com/office/drawing/2014/main" id="{B0FBB262-7FF3-06FD-C92E-356E2DB3F61A}"/>
                </a:ext>
              </a:extLst>
            </p:cNvPr>
            <p:cNvSpPr txBox="1">
              <a:spLocks/>
            </p:cNvSpPr>
            <p:nvPr/>
          </p:nvSpPr>
          <p:spPr>
            <a:xfrm>
              <a:off x="7252855" y="2409097"/>
              <a:ext cx="3716142" cy="302371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84048" indent="-384048" algn="l" defTabSz="914400" rtl="0" eaLnBrk="1" latinLnBrk="0" hangingPunct="1">
                <a:lnSpc>
                  <a:spcPct val="94000"/>
                </a:lnSpc>
                <a:spcBef>
                  <a:spcPts val="10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20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9144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20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13716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8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8288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18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2860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7432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16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32004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36576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14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41148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dirty="0"/>
                <a:t>FFT-NS-i</a:t>
              </a:r>
            </a:p>
            <a:p>
              <a:r>
                <a:rPr lang="de-DE" dirty="0"/>
                <a:t>E-INS-i</a:t>
              </a:r>
            </a:p>
            <a:p>
              <a:r>
                <a:rPr lang="de-DE" dirty="0"/>
                <a:t>L-INS-i</a:t>
              </a:r>
            </a:p>
            <a:p>
              <a:r>
                <a:rPr lang="de-DE" dirty="0"/>
                <a:t>G-INS-i</a:t>
              </a:r>
            </a:p>
          </p:txBody>
        </p:sp>
        <p:sp>
          <p:nvSpPr>
            <p:cNvPr id="24" name="Inhaltsplatzhalter 3">
              <a:extLst>
                <a:ext uri="{FF2B5EF4-FFF2-40B4-BE49-F238E27FC236}">
                  <a16:creationId xmlns:a16="http://schemas.microsoft.com/office/drawing/2014/main" id="{C65DB5C1-2E0F-BBB3-7E2C-CC1C1B1343D5}"/>
                </a:ext>
              </a:extLst>
            </p:cNvPr>
            <p:cNvSpPr txBox="1">
              <a:spLocks/>
            </p:cNvSpPr>
            <p:nvPr/>
          </p:nvSpPr>
          <p:spPr>
            <a:xfrm>
              <a:off x="2081753" y="4518387"/>
              <a:ext cx="8036506" cy="124185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84048" indent="-384048" algn="l" defTabSz="914400" rtl="0" eaLnBrk="1" latinLnBrk="0" hangingPunct="1">
                <a:lnSpc>
                  <a:spcPct val="94000"/>
                </a:lnSpc>
                <a:spcBef>
                  <a:spcPts val="10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20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9144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20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13716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8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8288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18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2860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7432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16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32004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36576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–"/>
                <a:defRPr sz="1400" i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4114800" indent="-384048" algn="l" defTabSz="914400" rtl="0" eaLnBrk="1" latinLnBrk="0" hangingPunct="1">
                <a:lnSpc>
                  <a:spcPct val="94000"/>
                </a:lnSpc>
                <a:spcBef>
                  <a:spcPts val="500"/>
                </a:spcBef>
                <a:spcAft>
                  <a:spcPts val="200"/>
                </a:spcAft>
                <a:buFont typeface="Franklin Gothic Book" panose="020B0503020102020204" pitchFamily="34" charset="0"/>
                <a:buChar char="■"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dirty="0"/>
                <a:t>					             More </a:t>
              </a:r>
              <a:r>
                <a:rPr lang="de-DE" dirty="0" err="1"/>
                <a:t>accurate</a:t>
              </a:r>
              <a:r>
                <a:rPr lang="de-DE" dirty="0"/>
                <a:t> 							  								</a:t>
              </a:r>
            </a:p>
          </p:txBody>
        </p:sp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825AAA27-5E81-8234-4AAA-50337F1DDA27}"/>
                </a:ext>
              </a:extLst>
            </p:cNvPr>
            <p:cNvGrpSpPr/>
            <p:nvPr/>
          </p:nvGrpSpPr>
          <p:grpSpPr>
            <a:xfrm>
              <a:off x="2051058" y="1825275"/>
              <a:ext cx="7153386" cy="3389600"/>
              <a:chOff x="2051058" y="1825275"/>
              <a:chExt cx="7153386" cy="3389600"/>
            </a:xfrm>
          </p:grpSpPr>
          <p:sp>
            <p:nvSpPr>
              <p:cNvPr id="17" name="Inhaltsplatzhalter 3">
                <a:extLst>
                  <a:ext uri="{FF2B5EF4-FFF2-40B4-BE49-F238E27FC236}">
                    <a16:creationId xmlns:a16="http://schemas.microsoft.com/office/drawing/2014/main" id="{9C334B4B-6BBF-8C67-4CAF-9140AD3E7F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3741" y="2409096"/>
                <a:ext cx="4647363" cy="28057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dirty="0"/>
                  <a:t>FFT-NS-1</a:t>
                </a:r>
              </a:p>
              <a:p>
                <a:r>
                  <a:rPr lang="de-DE" dirty="0"/>
                  <a:t>FFT-NS-2</a:t>
                </a:r>
              </a:p>
            </p:txBody>
          </p:sp>
          <p:cxnSp>
            <p:nvCxnSpPr>
              <p:cNvPr id="23" name="Rak pil 22">
                <a:extLst>
                  <a:ext uri="{FF2B5EF4-FFF2-40B4-BE49-F238E27FC236}">
                    <a16:creationId xmlns:a16="http://schemas.microsoft.com/office/drawing/2014/main" id="{88D0797D-576D-9699-D7FA-C52154445163}"/>
                  </a:ext>
                </a:extLst>
              </p:cNvPr>
              <p:cNvCxnSpPr/>
              <p:nvPr/>
            </p:nvCxnSpPr>
            <p:spPr>
              <a:xfrm flipH="1">
                <a:off x="2073741" y="2202873"/>
                <a:ext cx="69663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Rak pil 24">
                <a:extLst>
                  <a:ext uri="{FF2B5EF4-FFF2-40B4-BE49-F238E27FC236}">
                    <a16:creationId xmlns:a16="http://schemas.microsoft.com/office/drawing/2014/main" id="{1815D101-4A2B-D662-16AF-DF04161CD6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4576" y="4427871"/>
                <a:ext cx="69663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Inhaltsplatzhalter 3">
                <a:extLst>
                  <a:ext uri="{FF2B5EF4-FFF2-40B4-BE49-F238E27FC236}">
                    <a16:creationId xmlns:a16="http://schemas.microsoft.com/office/drawing/2014/main" id="{48478009-CF6F-8E1D-6BEA-FD982BF99F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1058" y="1825275"/>
                <a:ext cx="7153386" cy="8239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DE" dirty="0"/>
                  <a:t>Fast 							  								</a:t>
                </a:r>
              </a:p>
            </p:txBody>
          </p:sp>
        </p:grpSp>
      </p:grpSp>
      <p:sp>
        <p:nvSpPr>
          <p:cNvPr id="29" name="Vänster klammerparentes 28">
            <a:extLst>
              <a:ext uri="{FF2B5EF4-FFF2-40B4-BE49-F238E27FC236}">
                <a16:creationId xmlns:a16="http://schemas.microsoft.com/office/drawing/2014/main" id="{EC9F80E3-E557-0093-05EE-224084642D44}"/>
              </a:ext>
            </a:extLst>
          </p:cNvPr>
          <p:cNvSpPr/>
          <p:nvPr/>
        </p:nvSpPr>
        <p:spPr>
          <a:xfrm>
            <a:off x="3027803" y="2821052"/>
            <a:ext cx="45719" cy="8093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Höger klammerparentes 29">
            <a:extLst>
              <a:ext uri="{FF2B5EF4-FFF2-40B4-BE49-F238E27FC236}">
                <a16:creationId xmlns:a16="http://schemas.microsoft.com/office/drawing/2014/main" id="{7872BB1F-9121-DA8F-D8D8-2A85F3EFD9A7}"/>
              </a:ext>
            </a:extLst>
          </p:cNvPr>
          <p:cNvSpPr/>
          <p:nvPr/>
        </p:nvSpPr>
        <p:spPr>
          <a:xfrm>
            <a:off x="9975272" y="2876554"/>
            <a:ext cx="66868" cy="157246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969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2D68-68BB-9825-E064-A9CB8F75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BEE73-8B3D-7930-F01E-C8911E51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3912"/>
          </a:xfrm>
        </p:spPr>
        <p:txBody>
          <a:bodyPr/>
          <a:lstStyle/>
          <a:p>
            <a:r>
              <a:rPr lang="de-DE" dirty="0"/>
              <a:t>MAFFT Alignment </a:t>
            </a:r>
            <a:r>
              <a:rPr lang="de-DE" dirty="0" err="1"/>
              <a:t>Strategies</a:t>
            </a:r>
            <a:r>
              <a:rPr lang="de-DE" dirty="0"/>
              <a:t> 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9AE5F42-7F25-4953-41C1-85AC5A79A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371600" y="2230875"/>
            <a:ext cx="4384623" cy="433942"/>
          </a:xfrm>
        </p:spPr>
        <p:txBody>
          <a:bodyPr/>
          <a:lstStyle/>
          <a:p>
            <a:r>
              <a:rPr lang="de-DE" sz="2500" b="1" i="1" u="sng" dirty="0"/>
              <a:t>Progressive </a:t>
            </a:r>
            <a:r>
              <a:rPr lang="de-DE" sz="2500" b="1" i="1" u="sng" dirty="0" err="1"/>
              <a:t>methods</a:t>
            </a:r>
            <a:r>
              <a:rPr lang="de-DE" sz="2500" b="1" i="1" u="sng" dirty="0"/>
              <a:t> </a:t>
            </a:r>
            <a:r>
              <a:rPr lang="de-DE" sz="2500" b="1" i="1" dirty="0"/>
              <a:t>			</a:t>
            </a:r>
            <a:endParaRPr lang="de-AT" sz="2500" b="1" i="1" u="sng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441088B-763A-E855-6C22-FD0404450E48}"/>
              </a:ext>
            </a:extLst>
          </p:cNvPr>
          <p:cNvSpPr txBox="1">
            <a:spLocks/>
          </p:cNvSpPr>
          <p:nvPr/>
        </p:nvSpPr>
        <p:spPr>
          <a:xfrm>
            <a:off x="1371600" y="2333624"/>
            <a:ext cx="5493895" cy="3565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sz="1800" b="1" dirty="0" err="1"/>
              <a:t>Steps</a:t>
            </a:r>
            <a:r>
              <a:rPr lang="de-DE" sz="1800" dirty="0"/>
              <a:t>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de-DE" sz="1800" dirty="0"/>
              <a:t>Create a </a:t>
            </a:r>
            <a:r>
              <a:rPr lang="de-DE" sz="1800" dirty="0" err="1"/>
              <a:t>pairwise</a:t>
            </a:r>
            <a:r>
              <a:rPr lang="de-DE" sz="1800" dirty="0"/>
              <a:t> </a:t>
            </a:r>
            <a:r>
              <a:rPr lang="de-DE" sz="1800" dirty="0" err="1"/>
              <a:t>distance</a:t>
            </a:r>
            <a:r>
              <a:rPr lang="de-DE" sz="1800" dirty="0"/>
              <a:t> </a:t>
            </a:r>
            <a:r>
              <a:rPr lang="de-DE" sz="1800" dirty="0" err="1"/>
              <a:t>matrix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de-DE" sz="1800" dirty="0" err="1"/>
              <a:t>Construct</a:t>
            </a:r>
            <a:r>
              <a:rPr lang="de-DE" sz="1800" dirty="0"/>
              <a:t> a </a:t>
            </a:r>
            <a:r>
              <a:rPr lang="de-DE" sz="1800" dirty="0" err="1"/>
              <a:t>guide</a:t>
            </a:r>
            <a:r>
              <a:rPr lang="de-DE" sz="1800" dirty="0"/>
              <a:t> </a:t>
            </a:r>
            <a:r>
              <a:rPr lang="de-DE" sz="1800" dirty="0" err="1"/>
              <a:t>tree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de-DE" sz="1800" dirty="0" err="1"/>
              <a:t>Progressively</a:t>
            </a:r>
            <a:r>
              <a:rPr lang="de-DE" sz="1800" dirty="0"/>
              <a:t> </a:t>
            </a:r>
            <a:r>
              <a:rPr lang="de-DE" sz="1800" dirty="0" err="1"/>
              <a:t>align</a:t>
            </a:r>
            <a:r>
              <a:rPr lang="de-DE" sz="1800" dirty="0"/>
              <a:t> </a:t>
            </a:r>
            <a:r>
              <a:rPr lang="de-DE" sz="1800" dirty="0" err="1"/>
              <a:t>according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guide</a:t>
            </a:r>
            <a:r>
              <a:rPr lang="de-DE" sz="1800" dirty="0"/>
              <a:t> </a:t>
            </a:r>
            <a:r>
              <a:rPr lang="de-DE" sz="1800" dirty="0" err="1"/>
              <a:t>tree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AutoNum type="arabicParenR"/>
            </a:pP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/>
              <a:t>+ Fast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+ Works </a:t>
            </a:r>
            <a:r>
              <a:rPr lang="de-DE" sz="1800" dirty="0" err="1"/>
              <a:t>well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large </a:t>
            </a:r>
            <a:r>
              <a:rPr lang="de-DE" sz="1800" dirty="0" err="1"/>
              <a:t>datasets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/>
              <a:t>- Lower </a:t>
            </a:r>
            <a:r>
              <a:rPr lang="de-DE" sz="1800" dirty="0" err="1"/>
              <a:t>accuracy</a:t>
            </a:r>
            <a:endParaRPr lang="de-DE" sz="180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9CD1FCC-37AF-2D68-45E6-CD377E74DB1E}"/>
              </a:ext>
            </a:extLst>
          </p:cNvPr>
          <p:cNvSpPr txBox="1">
            <a:spLocks/>
          </p:cNvSpPr>
          <p:nvPr/>
        </p:nvSpPr>
        <p:spPr>
          <a:xfrm>
            <a:off x="6865495" y="2128126"/>
            <a:ext cx="5493895" cy="3380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sz="1800" b="1" dirty="0" err="1"/>
              <a:t>Steps</a:t>
            </a:r>
            <a:r>
              <a:rPr lang="de-DE" sz="1800" dirty="0"/>
              <a:t>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de-DE" sz="1800" dirty="0"/>
              <a:t>Start </a:t>
            </a:r>
            <a:r>
              <a:rPr lang="de-DE" sz="1800" dirty="0" err="1"/>
              <a:t>with</a:t>
            </a:r>
            <a:r>
              <a:rPr lang="de-DE" sz="1800" dirty="0"/>
              <a:t> initial </a:t>
            </a:r>
            <a:r>
              <a:rPr lang="de-DE" sz="1800" dirty="0" err="1"/>
              <a:t>alignment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de-DE" sz="1800" dirty="0"/>
              <a:t>Re-</a:t>
            </a:r>
            <a:r>
              <a:rPr lang="de-DE" sz="1800" dirty="0" err="1"/>
              <a:t>alignment</a:t>
            </a:r>
            <a:r>
              <a:rPr lang="de-DE" sz="1800" dirty="0"/>
              <a:t> </a:t>
            </a:r>
            <a:r>
              <a:rPr lang="de-DE" sz="1800" dirty="0">
                <a:sym typeface="Wingdings" pitchFamily="2" charset="2"/>
              </a:rPr>
              <a:t> </a:t>
            </a:r>
            <a:r>
              <a:rPr lang="de-DE" sz="1800" dirty="0" err="1">
                <a:sym typeface="Wingdings" pitchFamily="2" charset="2"/>
              </a:rPr>
              <a:t>improvement</a:t>
            </a:r>
            <a:endParaRPr lang="de-DE" sz="1800" dirty="0"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de-DE" sz="1800" dirty="0"/>
          </a:p>
          <a:p>
            <a:pPr>
              <a:lnSpc>
                <a:spcPct val="150000"/>
              </a:lnSpc>
            </a:pP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/>
              <a:t>+ Higher </a:t>
            </a:r>
            <a:r>
              <a:rPr lang="de-DE" sz="1800" dirty="0" err="1"/>
              <a:t>accuracy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/>
              <a:t>- Slow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511A5812-0E5F-AAB5-443A-881B280E8D6A}"/>
              </a:ext>
            </a:extLst>
          </p:cNvPr>
          <p:cNvSpPr txBox="1"/>
          <p:nvPr/>
        </p:nvSpPr>
        <p:spPr>
          <a:xfrm>
            <a:off x="6865495" y="1861543"/>
            <a:ext cx="495050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500" b="1" i="1" u="sng" dirty="0"/>
              <a:t>Iterative </a:t>
            </a:r>
            <a:r>
              <a:rPr lang="de-DE" sz="2500" b="1" i="1" u="sng" dirty="0" err="1"/>
              <a:t>methods</a:t>
            </a:r>
            <a:endParaRPr lang="sv-SE" sz="2500" dirty="0"/>
          </a:p>
        </p:txBody>
      </p:sp>
    </p:spTree>
    <p:extLst>
      <p:ext uri="{BB962C8B-B14F-4D97-AF65-F5344CB8AC3E}">
        <p14:creationId xmlns:p14="http://schemas.microsoft.com/office/powerpoint/2010/main" val="104429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0AC68-8B9A-BFEB-A387-2EF20F9C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MAFFT - Advantages 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DE0828-E611-4717-F612-B8C6EB982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High </a:t>
            </a:r>
            <a:r>
              <a:rPr lang="de-DE" dirty="0" err="1"/>
              <a:t>speed</a:t>
            </a:r>
            <a:endParaRPr lang="de-DE" dirty="0"/>
          </a:p>
          <a:p>
            <a:r>
              <a:rPr lang="de-DE" dirty="0"/>
              <a:t>Many </a:t>
            </a:r>
            <a:r>
              <a:rPr lang="de-DE" dirty="0" err="1"/>
              <a:t>alignment</a:t>
            </a:r>
            <a:r>
              <a:rPr lang="de-DE" dirty="0"/>
              <a:t> </a:t>
            </a:r>
            <a:r>
              <a:rPr lang="de-DE" dirty="0" err="1"/>
              <a:t>modes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from</a:t>
            </a:r>
            <a:endParaRPr lang="de-DE" dirty="0"/>
          </a:p>
          <a:p>
            <a:r>
              <a:rPr lang="de-DE" dirty="0"/>
              <a:t>High </a:t>
            </a:r>
            <a:r>
              <a:rPr lang="de-DE" dirty="0" err="1"/>
              <a:t>accuracy</a:t>
            </a:r>
            <a:endParaRPr lang="de-DE" dirty="0"/>
          </a:p>
          <a:p>
            <a:pPr lvl="1"/>
            <a:r>
              <a:rPr lang="de-DE" dirty="0"/>
              <a:t>L-INS-i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accurate</a:t>
            </a:r>
            <a:r>
              <a:rPr lang="de-DE" dirty="0"/>
              <a:t> MSA </a:t>
            </a:r>
            <a:r>
              <a:rPr lang="de-DE" dirty="0" err="1"/>
              <a:t>methods</a:t>
            </a:r>
            <a:endParaRPr lang="de-DE" dirty="0"/>
          </a:p>
          <a:p>
            <a:r>
              <a:rPr lang="de-DE" dirty="0"/>
              <a:t>Progressive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align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scoring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was </a:t>
            </a:r>
            <a:r>
              <a:rPr lang="de-DE" dirty="0" err="1"/>
              <a:t>designed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large </a:t>
            </a:r>
            <a:r>
              <a:rPr lang="de-DE" dirty="0" err="1"/>
              <a:t>gaps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732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44ADB-04F4-1158-9795-FB2774E59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MAFFT - </a:t>
            </a:r>
            <a:r>
              <a:rPr lang="de-DE" dirty="0" err="1"/>
              <a:t>Limitations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E9C549-6872-C4EB-7871-115FEAE26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High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modes</a:t>
            </a:r>
            <a:r>
              <a:rPr lang="de-DE" dirty="0"/>
              <a:t> (e.g. L-INS-i) </a:t>
            </a:r>
            <a:r>
              <a:rPr lang="de-DE" dirty="0" err="1"/>
              <a:t>are</a:t>
            </a:r>
            <a:r>
              <a:rPr lang="de-DE" dirty="0"/>
              <a:t> slow</a:t>
            </a:r>
          </a:p>
          <a:p>
            <a:r>
              <a:rPr lang="de-DE" dirty="0"/>
              <a:t>Library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performed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unlelated</a:t>
            </a:r>
            <a:r>
              <a:rPr lang="de-DE" dirty="0"/>
              <a:t> and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genomic</a:t>
            </a:r>
            <a:r>
              <a:rPr lang="de-DE" dirty="0"/>
              <a:t> DNA </a:t>
            </a:r>
            <a:r>
              <a:rPr lang="de-DE" dirty="0" err="1"/>
              <a:t>sequences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, FF-NS-2 </a:t>
            </a:r>
            <a:r>
              <a:rPr lang="de-DE" dirty="0" err="1"/>
              <a:t>tries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full-length</a:t>
            </a:r>
            <a:r>
              <a:rPr lang="de-DE" dirty="0"/>
              <a:t> </a:t>
            </a:r>
            <a:r>
              <a:rPr lang="de-DE" dirty="0" err="1"/>
              <a:t>alignment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rigorous</a:t>
            </a:r>
            <a:r>
              <a:rPr lang="de-DE" dirty="0"/>
              <a:t> DP and </a:t>
            </a:r>
            <a:r>
              <a:rPr lang="de-DE" dirty="0" err="1"/>
              <a:t>require</a:t>
            </a:r>
            <a:r>
              <a:rPr lang="de-DE" dirty="0"/>
              <a:t> large CPU time</a:t>
            </a:r>
          </a:p>
          <a:p>
            <a:r>
              <a:rPr lang="de-DE" dirty="0"/>
              <a:t>The </a:t>
            </a:r>
            <a:r>
              <a:rPr lang="de-DE" dirty="0" err="1"/>
              <a:t>order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alignable</a:t>
            </a:r>
            <a:r>
              <a:rPr lang="de-DE" dirty="0"/>
              <a:t> </a:t>
            </a:r>
            <a:r>
              <a:rPr lang="de-DE" dirty="0" err="1"/>
              <a:t>blocks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domains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assumed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conserved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4980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53E619-085E-01CA-8005-9530ABE5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096" y="1102415"/>
            <a:ext cx="3135086" cy="5606142"/>
          </a:xfrm>
        </p:spPr>
        <p:txBody>
          <a:bodyPr>
            <a:normAutofit/>
          </a:bodyPr>
          <a:lstStyle/>
          <a:p>
            <a:r>
              <a:rPr lang="de-DE" dirty="0"/>
              <a:t>Installation</a:t>
            </a:r>
            <a:endParaRPr lang="de-AT" dirty="0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97649B1-EA54-4416-AAFC-FF408060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DE74C57-89E0-7265-F658-37EF4BE00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101"/>
          <a:stretch/>
        </p:blipFill>
        <p:spPr>
          <a:xfrm>
            <a:off x="1057315" y="160771"/>
            <a:ext cx="5651654" cy="319467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E39527E-2016-3BC8-757E-B63C7209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484"/>
          <a:stretch/>
        </p:blipFill>
        <p:spPr>
          <a:xfrm>
            <a:off x="1114450" y="3502554"/>
            <a:ext cx="11077550" cy="28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8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93298-B980-A14D-4390-B4DFE34A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Usage</a:t>
            </a:r>
            <a:endParaRPr lang="de-AT" dirty="0"/>
          </a:p>
        </p:txBody>
      </p:sp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8D225D6-AEEE-787E-D038-6CB79185A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671" y="1527350"/>
            <a:ext cx="9287682" cy="4731936"/>
          </a:xfrm>
        </p:spPr>
      </p:pic>
    </p:spTree>
    <p:extLst>
      <p:ext uri="{BB962C8B-B14F-4D97-AF65-F5344CB8AC3E}">
        <p14:creationId xmlns:p14="http://schemas.microsoft.com/office/powerpoint/2010/main" val="323251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C18B27-F3A1-20BD-E1FC-D6C215D8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Usage</a:t>
            </a:r>
            <a:endParaRPr lang="de-AT" dirty="0"/>
          </a:p>
        </p:txBody>
      </p:sp>
      <p:pic>
        <p:nvPicPr>
          <p:cNvPr id="9" name="Inhaltsplatzhalter 8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74B60D4C-23B9-A39E-BA3A-B0FD8F4A0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486" y="1597689"/>
            <a:ext cx="9375428" cy="4805624"/>
          </a:xfrm>
        </p:spPr>
      </p:pic>
    </p:spTree>
    <p:extLst>
      <p:ext uri="{BB962C8B-B14F-4D97-AF65-F5344CB8AC3E}">
        <p14:creationId xmlns:p14="http://schemas.microsoft.com/office/powerpoint/2010/main" val="993159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2433F4-B290-86D8-3E9D-7BEC3CFE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Output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B181754-1E8F-FD83-04B4-14781BEBC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477107"/>
            <a:ext cx="9918080" cy="5043435"/>
          </a:xfrm>
        </p:spPr>
      </p:pic>
    </p:spTree>
    <p:extLst>
      <p:ext uri="{BB962C8B-B14F-4D97-AF65-F5344CB8AC3E}">
        <p14:creationId xmlns:p14="http://schemas.microsoft.com/office/powerpoint/2010/main" val="3378414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88D5E-1FB1-59BC-EAD1-DBE5DDE4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Output: Editor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BC8FC52-CF24-34EC-70AB-4E2975AA3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4399" y="562708"/>
            <a:ext cx="6379278" cy="5485563"/>
          </a:xfrm>
        </p:spPr>
      </p:pic>
    </p:spTree>
    <p:extLst>
      <p:ext uri="{BB962C8B-B14F-4D97-AF65-F5344CB8AC3E}">
        <p14:creationId xmlns:p14="http://schemas.microsoft.com/office/powerpoint/2010/main" val="3807941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6B49C-CF6C-6C8F-6063-A4A6A8A0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Using</a:t>
            </a:r>
            <a:r>
              <a:rPr lang="de-DE" dirty="0"/>
              <a:t> MAFFT online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AB255D-EAD7-40E3-4BB5-C606D156B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581400"/>
          </a:xfrm>
        </p:spPr>
        <p:txBody>
          <a:bodyPr/>
          <a:lstStyle/>
          <a:p>
            <a:r>
              <a:rPr lang="de-AT" dirty="0"/>
              <a:t>https://www.ebi.ac.uk/jdispatcher/msa/mafft?stype=protein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D46854-9C1D-41AF-B44A-C8EA4701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950" y="1895048"/>
            <a:ext cx="10272765" cy="483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67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E64103-80C9-EDFB-2201-98E44163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5D7153-4BF0-EF71-0DCB-B4C93B548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78430"/>
            <a:ext cx="9601200" cy="3581400"/>
          </a:xfrm>
        </p:spPr>
        <p:txBody>
          <a:bodyPr/>
          <a:lstStyle/>
          <a:p>
            <a:r>
              <a:rPr lang="de-DE" dirty="0"/>
              <a:t>Alignment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sample </a:t>
            </a:r>
            <a:r>
              <a:rPr lang="de-DE" dirty="0" err="1"/>
              <a:t>of</a:t>
            </a:r>
            <a:r>
              <a:rPr lang="de-DE" dirty="0"/>
              <a:t> AMD </a:t>
            </a:r>
            <a:r>
              <a:rPr lang="de-DE" dirty="0" err="1"/>
              <a:t>sequnces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Cystein</a:t>
            </a:r>
            <a:r>
              <a:rPr lang="de-DE" dirty="0"/>
              <a:t> Alignements</a:t>
            </a:r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2711796-1859-BFE6-CB63-2ACA7095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26" y="1368527"/>
            <a:ext cx="9306232" cy="580055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6BC6508-88E5-4C4A-E3A8-41E647185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26" y="1428750"/>
            <a:ext cx="9306232" cy="568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027193-1E9B-C4E1-8476-159244A1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Comparision</a:t>
            </a:r>
            <a:r>
              <a:rPr lang="de-DE" dirty="0"/>
              <a:t> 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C6B7A0-C995-BBEF-5294-11AC6376C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installed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81504A-07EA-CD7A-1FBD-3FD3E6D011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Different </a:t>
            </a:r>
            <a:r>
              <a:rPr lang="de-DE" dirty="0" err="1"/>
              <a:t>download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programs</a:t>
            </a:r>
            <a:endParaRPr lang="de-DE" dirty="0"/>
          </a:p>
          <a:p>
            <a:r>
              <a:rPr lang="de-DE" dirty="0" err="1"/>
              <a:t>Difficult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viewer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1383E6-E22E-CF2B-B3B7-5529735A1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online</a:t>
            </a:r>
            <a:endParaRPr lang="de-AT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843377-5283-39D4-1707-F246CDA337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Easy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r>
              <a:rPr lang="de-DE" dirty="0"/>
              <a:t>Alignments and </a:t>
            </a:r>
            <a:r>
              <a:rPr lang="de-DE" dirty="0" err="1"/>
              <a:t>trees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visualized</a:t>
            </a:r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7656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60C8F414-494D-85C0-FB16-C0B80ED39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2847" y="3110705"/>
            <a:ext cx="6831673" cy="1086237"/>
          </a:xfrm>
        </p:spPr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2064859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TM10001105[[fn=Ausschnitt]]</Template>
  <TotalTime>367</TotalTime>
  <Words>450</Words>
  <Application>Microsoft Office PowerPoint</Application>
  <PresentationFormat>Bredbild</PresentationFormat>
  <Paragraphs>106</Paragraphs>
  <Slides>18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18</vt:i4>
      </vt:variant>
    </vt:vector>
  </HeadingPairs>
  <TitlesOfParts>
    <vt:vector size="19" baseType="lpstr">
      <vt:lpstr>Ausschnitt</vt:lpstr>
      <vt:lpstr>MAFFT - Alignment</vt:lpstr>
      <vt:lpstr>Multiple Sequence Alignment - MSA</vt:lpstr>
      <vt:lpstr>Application of MSA</vt:lpstr>
      <vt:lpstr>Tools used for MSA</vt:lpstr>
      <vt:lpstr>MAFFT</vt:lpstr>
      <vt:lpstr>MAFFT Alignment Strategies </vt:lpstr>
      <vt:lpstr>MAFFT Alignment Strategies </vt:lpstr>
      <vt:lpstr>MAFFT - Advantages </vt:lpstr>
      <vt:lpstr>MAFFT - Limitations</vt:lpstr>
      <vt:lpstr>Installation</vt:lpstr>
      <vt:lpstr>Usage</vt:lpstr>
      <vt:lpstr>Usage</vt:lpstr>
      <vt:lpstr>Output</vt:lpstr>
      <vt:lpstr>Output: Editor</vt:lpstr>
      <vt:lpstr>Using MAFFT online</vt:lpstr>
      <vt:lpstr>Example</vt:lpstr>
      <vt:lpstr>Comparision 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Leitner, Theresa</dc:creator>
  <cp:lastModifiedBy>Elin Nielsen</cp:lastModifiedBy>
  <cp:revision>5</cp:revision>
  <dcterms:created xsi:type="dcterms:W3CDTF">2025-05-24T07:33:13Z</dcterms:created>
  <dcterms:modified xsi:type="dcterms:W3CDTF">2025-05-25T22:36:56Z</dcterms:modified>
</cp:coreProperties>
</file>